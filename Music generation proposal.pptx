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a3e6479ff_4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7a3e6479ff_4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a039b42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a039b42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173B8"/>
                </a:solidFill>
              </a:rPr>
              <a:t>Current text-to-music AI models, like MusicGen, often struggle with </a:t>
            </a:r>
            <a:r>
              <a:rPr b="1" lang="en">
                <a:solidFill>
                  <a:srgbClr val="6173B8"/>
                </a:solidFill>
              </a:rPr>
              <a:t>subtle emotional nuances</a:t>
            </a:r>
            <a:r>
              <a:rPr lang="en">
                <a:solidFill>
                  <a:srgbClr val="6173B8"/>
                </a:solidFill>
              </a:rPr>
              <a:t>, failing to distinguish between feelings such as "</a:t>
            </a:r>
            <a:r>
              <a:rPr b="1" lang="en">
                <a:solidFill>
                  <a:srgbClr val="6173B8"/>
                </a:solidFill>
              </a:rPr>
              <a:t>sad but hopeful</a:t>
            </a:r>
            <a:r>
              <a:rPr lang="en">
                <a:solidFill>
                  <a:srgbClr val="6173B8"/>
                </a:solidFill>
              </a:rPr>
              <a:t>" versus "</a:t>
            </a:r>
            <a:r>
              <a:rPr b="1" lang="en">
                <a:solidFill>
                  <a:srgbClr val="6173B8"/>
                </a:solidFill>
              </a:rPr>
              <a:t>purely tragic</a:t>
            </a:r>
            <a:r>
              <a:rPr lang="en">
                <a:solidFill>
                  <a:srgbClr val="6173B8"/>
                </a:solidFill>
              </a:rPr>
              <a:t>." Our project aims to solve this by conditioning the AI on </a:t>
            </a:r>
            <a:r>
              <a:rPr b="1" lang="en">
                <a:solidFill>
                  <a:srgbClr val="6173B8"/>
                </a:solidFill>
              </a:rPr>
              <a:t>Russell's Circumplex Model of Affect</a:t>
            </a:r>
            <a:r>
              <a:rPr lang="en">
                <a:solidFill>
                  <a:srgbClr val="6173B8"/>
                </a:solidFill>
              </a:rPr>
              <a:t>, which maps emotions onto a multidimensional space of </a:t>
            </a:r>
            <a:r>
              <a:rPr b="1" lang="en">
                <a:solidFill>
                  <a:srgbClr val="6173B8"/>
                </a:solidFill>
              </a:rPr>
              <a:t>valence</a:t>
            </a:r>
            <a:r>
              <a:rPr lang="en">
                <a:solidFill>
                  <a:srgbClr val="6173B8"/>
                </a:solidFill>
              </a:rPr>
              <a:t> (pleasantness), </a:t>
            </a:r>
            <a:r>
              <a:rPr b="1" lang="en">
                <a:solidFill>
                  <a:srgbClr val="6173B8"/>
                </a:solidFill>
              </a:rPr>
              <a:t>arousal</a:t>
            </a:r>
            <a:r>
              <a:rPr lang="en">
                <a:solidFill>
                  <a:srgbClr val="6173B8"/>
                </a:solidFill>
              </a:rPr>
              <a:t> (intensity), and </a:t>
            </a:r>
            <a:r>
              <a:rPr b="1" lang="en">
                <a:solidFill>
                  <a:srgbClr val="6173B8"/>
                </a:solidFill>
              </a:rPr>
              <a:t>dominance.</a:t>
            </a:r>
            <a:r>
              <a:rPr lang="en">
                <a:solidFill>
                  <a:srgbClr val="6173B8"/>
                </a:solidFill>
              </a:rPr>
              <a:t> We hypothesize that training MusicGen with this numerical, Valence-Arousal(VA) based emotion conditioning will enable it to generate musically distinct outputs for nuanced emotional descriptions, outperforming models that rely solely on text prompts.</a:t>
            </a:r>
            <a:endParaRPr>
              <a:solidFill>
                <a:srgbClr val="6173B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a0567f0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a0567f0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goal is to make MusicGen generate music that expresses emotions, not just sounds. We use the Valence–Arousal framework to represent emotions along two dimensions: pleasantness and intensity.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First, we standardize several datasets, like MusicCaps, into this common VA format. Then, we map these VA values into MusicGen’s embedding space and combine them with text prompts through cross-attention, so the model can consider both what we say and the emotion we want.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fine-tune the model efficiently using LoRA, which adapts MusicGen without retraining everything from scratch. To evaluate, we built an interactive demo and conduct human-in-the-loop tests: A/B comparisons and VA ratings to see if the music reflects the intended emotions.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All of this runs with PyTorch, Hugging Face, LoRA, and Gradio on cloud platforms like ISP, Colab, and Kaggle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a0567f0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7a0567f0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preliminary results, as shown in the figure, a paper we reviewed successfully demonstrates how to embed a VA emotion model into a music transformer. It explored four distinct architectures, moving from discrete tokens to continuous-concatenated tokens.By comparing these approaches, the paper reveals that the continuous-concatenated architecture outperforms the others, achieving the lowest error (NLL) and highest accuracy, which indicates a superior ability to convey the intended emotion.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a0567f0d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a0567f0d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 this project, our goal is to developing a VA-conditioned text-to-music framework that enables finer emotional control. Our deliverables will include a micropublication, open-source code, and an interactive demo. We believe this will advance emotion-aware AI music generation, offering potential application in personalized media, music therapy, and creative tools.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a0567f0d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a0567f0d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anticipate dedicating the first month to collecting and cleaning the dataset. Fine-tuning the model is expected to be the most time-consuming phase, and our ultimate goal is to prepare our findings for micropublication.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650" y="4221433"/>
            <a:ext cx="2857500" cy="688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650" y="4221433"/>
            <a:ext cx="2857500" cy="688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uromatch Academ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/>
              <a:t>Sensorimotor transformations in superior colliculus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/>
              <a:t>The Wiggly Caterpillars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Speaker name ⦁ Topic of day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2 ⦁ Day 1 ⦁ Tutorial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Speaker name ⦁ Topic of day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2 ⦁ Day 1 ⦁ Tutorial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Speaker name ⦁ Topic of day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7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2 ⦁ Day 1 ⦁ Tutorial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D9D9D9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650" y="4221433"/>
            <a:ext cx="2857500" cy="688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9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9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we built this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9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Professional Development Session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69" name="Google Shape;69;p10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Speaker name ⦁ Topic of day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0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2 ⦁ Day 1 ⦁ Tutorial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1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1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Speaker name ⦁ Topic of day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1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2 ⦁ Day 1 ⦁ Tutorial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/>
          <p:nvPr/>
        </p:nvSpPr>
        <p:spPr>
          <a:xfrm>
            <a:off x="0" y="4832150"/>
            <a:ext cx="9144000" cy="31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2"/>
          <p:cNvSpPr txBox="1"/>
          <p:nvPr/>
        </p:nvSpPr>
        <p:spPr>
          <a:xfrm>
            <a:off x="90525" y="4844025"/>
            <a:ext cx="4092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Speaker name ⦁ Topic of day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472450" y="4821325"/>
            <a:ext cx="548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5043525" y="4844025"/>
            <a:ext cx="353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2 ⦁ Day 1 ⦁ Tutorial 3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56188" y="4832150"/>
            <a:ext cx="313980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B">
  <p:cSld name="TITLE_AND_BODY_2_1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>
            <p:ph idx="2" type="pic"/>
          </p:nvPr>
        </p:nvSpPr>
        <p:spPr>
          <a:xfrm>
            <a:off x="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3"/>
          <p:cNvSpPr txBox="1"/>
          <p:nvPr>
            <p:ph type="title"/>
          </p:nvPr>
        </p:nvSpPr>
        <p:spPr>
          <a:xfrm>
            <a:off x="5427950" y="289525"/>
            <a:ext cx="34059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5427950" y="1565672"/>
            <a:ext cx="34059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ctrTitle"/>
          </p:nvPr>
        </p:nvSpPr>
        <p:spPr>
          <a:xfrm>
            <a:off x="337965" y="1326572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500"/>
              <a:t>Text-to-Music Generation with Emotional Nuance: </a:t>
            </a:r>
            <a:r>
              <a:rPr lang="en" sz="3100"/>
              <a:t>Multi-dimensional Emotion Space Modeling</a:t>
            </a:r>
            <a:endParaRPr sz="3100"/>
          </a:p>
        </p:txBody>
      </p:sp>
      <p:sp>
        <p:nvSpPr>
          <p:cNvPr id="97" name="Google Shape;97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By: Josephine, Malina, Wasif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Team name: Resona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195425" y="8849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50">
                <a:solidFill>
                  <a:srgbClr val="3F4C7C"/>
                </a:solidFill>
                <a:highlight>
                  <a:srgbClr val="FFFFFF"/>
                </a:highlight>
              </a:rPr>
              <a:t>Background &amp; Research Hypothesis</a:t>
            </a:r>
            <a:endParaRPr sz="4000"/>
          </a:p>
        </p:txBody>
      </p:sp>
      <p:sp>
        <p:nvSpPr>
          <p:cNvPr id="103" name="Google Shape;103;p15"/>
          <p:cNvSpPr txBox="1"/>
          <p:nvPr/>
        </p:nvSpPr>
        <p:spPr>
          <a:xfrm>
            <a:off x="346650" y="513075"/>
            <a:ext cx="84507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F4C7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4C7C"/>
                </a:solidFill>
              </a:rPr>
              <a:t>Problem:</a:t>
            </a:r>
            <a:r>
              <a:rPr lang="en" sz="1600">
                <a:solidFill>
                  <a:srgbClr val="3F4C7C"/>
                </a:solidFill>
              </a:rPr>
              <a:t> "sad but hopeful" versus "purely tragic" ? </a:t>
            </a:r>
            <a:endParaRPr sz="1600">
              <a:solidFill>
                <a:srgbClr val="3F4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4C7C"/>
                </a:solidFill>
              </a:rPr>
              <a:t>Hypothesize: VA-based emotion conditioning</a:t>
            </a:r>
            <a:r>
              <a:rPr lang="en" sz="1600">
                <a:solidFill>
                  <a:srgbClr val="3F4C7C"/>
                </a:solidFill>
              </a:rPr>
              <a:t> will enable music generation models to generate musically distinct, nuanced emotional outputs.</a:t>
            </a:r>
            <a:endParaRPr sz="1800">
              <a:solidFill>
                <a:srgbClr val="6173B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F4C7C"/>
              </a:solidFill>
              <a:highlight>
                <a:srgbClr val="FFFFFF"/>
              </a:highlight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195425" y="4969200"/>
            <a:ext cx="3842100" cy="174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6601475" y="4969200"/>
            <a:ext cx="2079600" cy="174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D9D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363775" y="4836875"/>
            <a:ext cx="38421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F1F1F"/>
                </a:solidFill>
              </a:rPr>
              <a:t>Text-to-Music Generation with Emotional Nuance</a:t>
            </a:r>
            <a:endParaRPr b="1" sz="1100">
              <a:solidFill>
                <a:srgbClr val="1F1F1F"/>
              </a:solidFill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7619367" y="4829600"/>
            <a:ext cx="1167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F1F1F"/>
                </a:solidFill>
              </a:rPr>
              <a:t>Resona </a:t>
            </a:r>
            <a:endParaRPr b="1" sz="1100">
              <a:solidFill>
                <a:srgbClr val="1F1F1F"/>
              </a:solidFill>
            </a:endParaRPr>
          </a:p>
        </p:txBody>
      </p:sp>
      <p:grpSp>
        <p:nvGrpSpPr>
          <p:cNvPr id="108" name="Google Shape;108;p15"/>
          <p:cNvGrpSpPr/>
          <p:nvPr/>
        </p:nvGrpSpPr>
        <p:grpSpPr>
          <a:xfrm>
            <a:off x="262590" y="2074990"/>
            <a:ext cx="4896760" cy="2229122"/>
            <a:chOff x="285775" y="2403399"/>
            <a:chExt cx="4676051" cy="2128650"/>
          </a:xfrm>
        </p:grpSpPr>
        <p:pic>
          <p:nvPicPr>
            <p:cNvPr id="109" name="Google Shape;109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5775" y="2403399"/>
              <a:ext cx="4676051" cy="212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5"/>
            <p:cNvPicPr preferRelativeResize="0"/>
            <p:nvPr/>
          </p:nvPicPr>
          <p:blipFill rotWithShape="1">
            <a:blip r:embed="rId4">
              <a:alphaModFix/>
            </a:blip>
            <a:srcRect b="-45433" l="-45433" r="0" t="0"/>
            <a:stretch/>
          </p:blipFill>
          <p:spPr>
            <a:xfrm>
              <a:off x="2102155" y="2445000"/>
              <a:ext cx="880925" cy="25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" name="Google Shape;111;p15"/>
          <p:cNvSpPr txBox="1"/>
          <p:nvPr/>
        </p:nvSpPr>
        <p:spPr>
          <a:xfrm>
            <a:off x="5357670" y="1797005"/>
            <a:ext cx="371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3F4C7C"/>
                </a:solidFill>
              </a:rPr>
              <a:t>Russell's Circumplex Model of Affect (VA model)</a:t>
            </a:r>
            <a:endParaRPr b="1" sz="1200">
              <a:solidFill>
                <a:srgbClr val="3F4C7C"/>
              </a:solidFill>
            </a:endParaRPr>
          </a:p>
        </p:txBody>
      </p:sp>
      <p:grpSp>
        <p:nvGrpSpPr>
          <p:cNvPr id="112" name="Google Shape;112;p15"/>
          <p:cNvGrpSpPr/>
          <p:nvPr/>
        </p:nvGrpSpPr>
        <p:grpSpPr>
          <a:xfrm>
            <a:off x="5554175" y="2102667"/>
            <a:ext cx="3126900" cy="2343246"/>
            <a:chOff x="5554175" y="2193971"/>
            <a:chExt cx="3126900" cy="2343246"/>
          </a:xfrm>
        </p:grpSpPr>
        <p:pic>
          <p:nvPicPr>
            <p:cNvPr id="113" name="Google Shape;113;p15"/>
            <p:cNvPicPr preferRelativeResize="0"/>
            <p:nvPr/>
          </p:nvPicPr>
          <p:blipFill rotWithShape="1">
            <a:blip r:embed="rId5">
              <a:alphaModFix/>
            </a:blip>
            <a:srcRect b="0" l="2276" r="0" t="0"/>
            <a:stretch/>
          </p:blipFill>
          <p:spPr>
            <a:xfrm>
              <a:off x="5837575" y="2287325"/>
              <a:ext cx="2506999" cy="217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874075" y="2193971"/>
              <a:ext cx="806993" cy="57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874075" y="3966995"/>
              <a:ext cx="807000" cy="5702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554175" y="4002299"/>
              <a:ext cx="715562" cy="4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554175" y="2227551"/>
              <a:ext cx="807000" cy="5701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15"/>
          <p:cNvSpPr txBox="1"/>
          <p:nvPr/>
        </p:nvSpPr>
        <p:spPr>
          <a:xfrm>
            <a:off x="153885" y="4410755"/>
            <a:ext cx="907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C7C"/>
                </a:solidFill>
              </a:rPr>
              <a:t>Mahmood, Mahmood A., et al. "Segmentation-enhanced approach for emotion detection from EEG signals using the fuzzy C-mean and SVM." Scientific Reports 15.1 (2025): 31956.</a:t>
            </a:r>
            <a:endParaRPr sz="1000">
              <a:solidFill>
                <a:srgbClr val="3F4C7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50">
                <a:solidFill>
                  <a:srgbClr val="3F4C7C"/>
                </a:solidFill>
                <a:highlight>
                  <a:srgbClr val="FFFFFF"/>
                </a:highlight>
              </a:rPr>
              <a:t>Methodology &amp; Tools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812700" y="4375175"/>
            <a:ext cx="435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390675" y="1189775"/>
            <a:ext cx="49020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F4C7C"/>
                </a:solidFill>
                <a:highlight>
                  <a:srgbClr val="FFFFFF"/>
                </a:highlight>
              </a:rPr>
              <a:t>Summarize the analytical approaches and tools used during the Academy, and explain how they will be extended or refined.</a:t>
            </a:r>
            <a:endParaRPr/>
          </a:p>
        </p:txBody>
      </p:sp>
      <p:grpSp>
        <p:nvGrpSpPr>
          <p:cNvPr id="126" name="Google Shape;126;p16"/>
          <p:cNvGrpSpPr/>
          <p:nvPr/>
        </p:nvGrpSpPr>
        <p:grpSpPr>
          <a:xfrm>
            <a:off x="0" y="1190000"/>
            <a:ext cx="2037600" cy="1616075"/>
            <a:chOff x="0" y="1190000"/>
            <a:chExt cx="2037600" cy="1616075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1190000"/>
              <a:ext cx="2037600" cy="669000"/>
            </a:xfrm>
            <a:prstGeom prst="homePlate">
              <a:avLst>
                <a:gd fmla="val 50000" name="adj"/>
              </a:avLst>
            </a:prstGeom>
            <a:solidFill>
              <a:srgbClr val="272E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Step</a:t>
              </a: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1:Data Collection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41775" y="1941175"/>
              <a:ext cx="1785600" cy="864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4C7C"/>
                </a:buClr>
                <a:buSzPts val="1100"/>
                <a:buChar char="●"/>
              </a:pPr>
              <a:r>
                <a:rPr lang="en" sz="1100">
                  <a:solidFill>
                    <a:srgbClr val="3F4C7C"/>
                  </a:solidFill>
                  <a:highlight>
                    <a:schemeClr val="lt1"/>
                  </a:highlight>
                </a:rPr>
                <a:t>Compile a standardized VA dataset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1561500" y="1190000"/>
            <a:ext cx="2288625" cy="1796375"/>
            <a:chOff x="1609700" y="1190013"/>
            <a:chExt cx="2288625" cy="1796375"/>
          </a:xfrm>
        </p:grpSpPr>
        <p:sp>
          <p:nvSpPr>
            <p:cNvPr id="130" name="Google Shape;130;p16"/>
            <p:cNvSpPr/>
            <p:nvPr/>
          </p:nvSpPr>
          <p:spPr>
            <a:xfrm>
              <a:off x="1711325" y="1190013"/>
              <a:ext cx="2187000" cy="669000"/>
            </a:xfrm>
            <a:prstGeom prst="chevron">
              <a:avLst>
                <a:gd fmla="val 50000" name="adj"/>
              </a:avLst>
            </a:prstGeom>
            <a:solidFill>
              <a:srgbClr val="2F36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Step</a:t>
              </a: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2:Emotion Conditioning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1609700" y="1941188"/>
              <a:ext cx="22425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4C7C"/>
                </a:buClr>
                <a:buSzPts val="1100"/>
                <a:buChar char="●"/>
              </a:pPr>
              <a:r>
                <a:rPr lang="en" sz="1100">
                  <a:solidFill>
                    <a:srgbClr val="3F4C7C"/>
                  </a:solidFill>
                  <a:highlight>
                    <a:schemeClr val="lt1"/>
                  </a:highlight>
                </a:rPr>
                <a:t>Emotion Encoder</a:t>
              </a:r>
              <a:endParaRPr sz="1100">
                <a:solidFill>
                  <a:srgbClr val="3F4C7C"/>
                </a:solidFill>
                <a:highlight>
                  <a:schemeClr val="lt1"/>
                </a:highlight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4C7C"/>
                </a:buClr>
                <a:buSzPts val="1100"/>
                <a:buChar char="●"/>
              </a:pPr>
              <a:r>
                <a:rPr lang="en" sz="1100">
                  <a:solidFill>
                    <a:srgbClr val="3F4C7C"/>
                  </a:solidFill>
                  <a:highlight>
                    <a:schemeClr val="lt1"/>
                  </a:highlight>
                </a:rPr>
                <a:t>Modified Cross-Attention</a:t>
              </a:r>
              <a:endParaRPr sz="1100">
                <a:solidFill>
                  <a:srgbClr val="3F4C7C"/>
                </a:solidFill>
                <a:highlight>
                  <a:schemeClr val="lt1"/>
                </a:highlight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3465725" y="1189875"/>
            <a:ext cx="2296800" cy="1691625"/>
            <a:chOff x="3430413" y="1190000"/>
            <a:chExt cx="2296800" cy="1691625"/>
          </a:xfrm>
        </p:grpSpPr>
        <p:sp>
          <p:nvSpPr>
            <p:cNvPr id="133" name="Google Shape;133;p16"/>
            <p:cNvSpPr/>
            <p:nvPr/>
          </p:nvSpPr>
          <p:spPr>
            <a:xfrm>
              <a:off x="3430413" y="1190000"/>
              <a:ext cx="2296800" cy="669000"/>
            </a:xfrm>
            <a:prstGeom prst="chevron">
              <a:avLst>
                <a:gd fmla="val 50000" name="adj"/>
              </a:avLst>
            </a:prstGeom>
            <a:solidFill>
              <a:srgbClr val="3740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Step</a:t>
              </a: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3:Model Fine-tuning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3484100" y="1941725"/>
              <a:ext cx="18411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4C7C"/>
                </a:buClr>
                <a:buSzPts val="1100"/>
                <a:buChar char="●"/>
              </a:pPr>
              <a:r>
                <a:rPr lang="en" sz="1100">
                  <a:solidFill>
                    <a:srgbClr val="3F4C7C"/>
                  </a:solidFill>
                  <a:highlight>
                    <a:schemeClr val="lt1"/>
                  </a:highlight>
                </a:rPr>
                <a:t>Leveraging Low-Rank Decomposition (LoRA) method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5" name="Google Shape;135;p16"/>
          <p:cNvGrpSpPr/>
          <p:nvPr/>
        </p:nvGrpSpPr>
        <p:grpSpPr>
          <a:xfrm>
            <a:off x="6956875" y="1189775"/>
            <a:ext cx="2187000" cy="1933050"/>
            <a:chOff x="6956875" y="1189775"/>
            <a:chExt cx="2187000" cy="1933050"/>
          </a:xfrm>
        </p:grpSpPr>
        <p:sp>
          <p:nvSpPr>
            <p:cNvPr id="136" name="Google Shape;136;p16"/>
            <p:cNvSpPr/>
            <p:nvPr/>
          </p:nvSpPr>
          <p:spPr>
            <a:xfrm>
              <a:off x="7106275" y="1189775"/>
              <a:ext cx="2037600" cy="669000"/>
            </a:xfrm>
            <a:prstGeom prst="chevron">
              <a:avLst>
                <a:gd fmla="val 50000" name="adj"/>
              </a:avLst>
            </a:prstGeom>
            <a:solidFill>
              <a:srgbClr val="617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Step</a:t>
              </a: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5:Optimization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6956875" y="1946525"/>
              <a:ext cx="1875300" cy="11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4C7C"/>
                </a:buClr>
                <a:buSzPts val="1100"/>
                <a:buChar char="●"/>
              </a:pPr>
              <a:r>
                <a:rPr lang="en" sz="1100">
                  <a:solidFill>
                    <a:srgbClr val="3F4C7C"/>
                  </a:solidFill>
                  <a:highlight>
                    <a:schemeClr val="lt1"/>
                  </a:highlight>
                </a:rPr>
                <a:t>Refine the model based on the feedback gathered from the evaluations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5075975" y="1189775"/>
            <a:ext cx="2395800" cy="1933050"/>
            <a:chOff x="5075975" y="1189775"/>
            <a:chExt cx="2395800" cy="1933050"/>
          </a:xfrm>
        </p:grpSpPr>
        <p:sp>
          <p:nvSpPr>
            <p:cNvPr id="139" name="Google Shape;139;p16"/>
            <p:cNvSpPr/>
            <p:nvPr/>
          </p:nvSpPr>
          <p:spPr>
            <a:xfrm>
              <a:off x="5334275" y="1189775"/>
              <a:ext cx="2137500" cy="669000"/>
            </a:xfrm>
            <a:prstGeom prst="chevron">
              <a:avLst>
                <a:gd fmla="val 50000" name="adj"/>
              </a:avLst>
            </a:prstGeom>
            <a:solidFill>
              <a:srgbClr val="3F4C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Step </a:t>
              </a: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4:</a:t>
              </a:r>
              <a:b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Evaluation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5075975" y="1941725"/>
              <a:ext cx="201000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4C7C"/>
                </a:buClr>
                <a:buSzPts val="1100"/>
                <a:buChar char="●"/>
              </a:pPr>
              <a:r>
                <a:rPr lang="en" sz="1100">
                  <a:solidFill>
                    <a:srgbClr val="3F4C7C"/>
                  </a:solidFill>
                  <a:highlight>
                    <a:schemeClr val="lt1"/>
                  </a:highlight>
                </a:rPr>
                <a:t>I</a:t>
              </a:r>
              <a:r>
                <a:rPr lang="en" sz="1100">
                  <a:solidFill>
                    <a:srgbClr val="3F4C7C"/>
                  </a:solidFill>
                  <a:highlight>
                    <a:schemeClr val="lt1"/>
                  </a:highlight>
                </a:rPr>
                <a:t>nteractive Demo</a:t>
              </a:r>
              <a:endParaRPr sz="1100">
                <a:solidFill>
                  <a:srgbClr val="3F4C7C"/>
                </a:solidFill>
                <a:highlight>
                  <a:schemeClr val="lt1"/>
                </a:highlight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4C7C"/>
                </a:buClr>
                <a:buSzPts val="1100"/>
                <a:buChar char="●"/>
              </a:pPr>
              <a:r>
                <a:rPr lang="en" sz="1100">
                  <a:solidFill>
                    <a:srgbClr val="3F4C7C"/>
                  </a:solidFill>
                  <a:highlight>
                    <a:schemeClr val="lt1"/>
                  </a:highlight>
                </a:rPr>
                <a:t>Human-in-the-Loop Evaluation: A/B Testing &amp; VA-Value Rating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1" name="Google Shape;141;p16"/>
          <p:cNvSpPr txBox="1"/>
          <p:nvPr/>
        </p:nvSpPr>
        <p:spPr>
          <a:xfrm>
            <a:off x="1835352" y="3917750"/>
            <a:ext cx="21375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F4C7C"/>
                </a:solidFill>
                <a:highlight>
                  <a:schemeClr val="lt1"/>
                </a:highlight>
              </a:rPr>
              <a:t>Pre trained model: MusicGen</a:t>
            </a:r>
            <a:endParaRPr sz="2100">
              <a:solidFill>
                <a:schemeClr val="accent3"/>
              </a:solidFill>
            </a:endParaRPr>
          </a:p>
        </p:txBody>
      </p:sp>
      <p:pic>
        <p:nvPicPr>
          <p:cNvPr id="142" name="Google Shape;142;p16" title="pytorch-logo-rw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25" y="3242813"/>
            <a:ext cx="1436803" cy="80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title="hf-inference-dar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0900" y="3376075"/>
            <a:ext cx="2037602" cy="54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title="Gradio-Ai-Logo-PNG-SVG-Vector-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2063" y="3053675"/>
            <a:ext cx="1291375" cy="12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0725" y="3376085"/>
            <a:ext cx="1881301" cy="900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title="kaggle-logo-png_seeklogo-33515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05325" y="2986375"/>
            <a:ext cx="1063000" cy="10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title="0_b_BazcpnbPFphq-f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4075" y="4002174"/>
            <a:ext cx="1225467" cy="54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/>
          <p:nvPr/>
        </p:nvSpPr>
        <p:spPr>
          <a:xfrm>
            <a:off x="195425" y="4969200"/>
            <a:ext cx="3842100" cy="174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6601475" y="4969200"/>
            <a:ext cx="2079600" cy="174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D9D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363775" y="4836875"/>
            <a:ext cx="38421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F1F1F"/>
                </a:solidFill>
              </a:rPr>
              <a:t>Text-to-Music Generation with Emotional Nuance</a:t>
            </a:r>
            <a:endParaRPr b="1" sz="1100">
              <a:solidFill>
                <a:srgbClr val="1F1F1F"/>
              </a:solidFill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7619367" y="4829600"/>
            <a:ext cx="1167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F1F1F"/>
                </a:solidFill>
              </a:rPr>
              <a:t>Resona </a:t>
            </a:r>
            <a:endParaRPr b="1" sz="11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130520" y="87026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50">
                <a:solidFill>
                  <a:srgbClr val="3F4C7C"/>
                </a:solidFill>
                <a:highlight>
                  <a:srgbClr val="FFFFFF"/>
                </a:highlight>
              </a:rPr>
              <a:t>Preliminary Results</a:t>
            </a:r>
            <a:endParaRPr b="1" sz="2550">
              <a:solidFill>
                <a:srgbClr val="3F4C7C"/>
              </a:solidFill>
              <a:highlight>
                <a:srgbClr val="FFFFFF"/>
              </a:highlight>
            </a:endParaRPr>
          </a:p>
        </p:txBody>
      </p:sp>
      <p:pic>
        <p:nvPicPr>
          <p:cNvPr id="157" name="Google Shape;15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70" y="985850"/>
            <a:ext cx="5432448" cy="34554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5591" y="1973662"/>
            <a:ext cx="3474950" cy="1016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59" name="Google Shape;159;p17"/>
          <p:cNvSpPr txBox="1"/>
          <p:nvPr/>
        </p:nvSpPr>
        <p:spPr>
          <a:xfrm>
            <a:off x="120775" y="600075"/>
            <a:ext cx="5687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F4C7C"/>
                </a:solidFill>
              </a:rPr>
              <a:t>Four Architectures for Emotion Conditioning in Music Transformers</a:t>
            </a:r>
            <a:endParaRPr b="1" sz="1300">
              <a:solidFill>
                <a:srgbClr val="3F4C7C"/>
              </a:solidFill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5958800" y="1604350"/>
            <a:ext cx="310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F4C7C"/>
                </a:solidFill>
              </a:rPr>
              <a:t>Model performance comparison</a:t>
            </a:r>
            <a:endParaRPr b="1" sz="1300">
              <a:solidFill>
                <a:srgbClr val="3F4C7C"/>
              </a:solidFill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5412800" y="3060900"/>
            <a:ext cx="36462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200">
                <a:solidFill>
                  <a:srgbClr val="3F4C7C"/>
                </a:solidFill>
              </a:rPr>
              <a:t>NLL </a:t>
            </a:r>
            <a:r>
              <a:rPr lang="en" sz="1200">
                <a:solidFill>
                  <a:srgbClr val="3F4C7C"/>
                </a:solidFill>
              </a:rPr>
              <a:t>(Negative Log-Likelihood): Error metric</a:t>
            </a:r>
            <a:endParaRPr sz="1200">
              <a:solidFill>
                <a:srgbClr val="3F4C7C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F4C7C"/>
                </a:solidFill>
              </a:rPr>
              <a:t>lower value</a:t>
            </a:r>
            <a:r>
              <a:rPr lang="en" sz="1200">
                <a:solidFill>
                  <a:srgbClr val="3F4C7C"/>
                </a:solidFill>
              </a:rPr>
              <a:t> means better.</a:t>
            </a:r>
            <a:endParaRPr sz="1200">
              <a:solidFill>
                <a:srgbClr val="3F4C7C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200">
                <a:solidFill>
                  <a:srgbClr val="3F4C7C"/>
                </a:solidFill>
              </a:rPr>
              <a:t>Top-1 and Top-5 Accuracy</a:t>
            </a:r>
            <a:r>
              <a:rPr lang="en" sz="1200">
                <a:solidFill>
                  <a:srgbClr val="3F4C7C"/>
                </a:solidFill>
              </a:rPr>
              <a:t>: Accuracy </a:t>
            </a:r>
            <a:r>
              <a:rPr b="1" lang="en" sz="1200">
                <a:solidFill>
                  <a:srgbClr val="3F4C7C"/>
                </a:solidFill>
              </a:rPr>
              <a:t>metrics higher</a:t>
            </a:r>
            <a:r>
              <a:rPr lang="en" sz="1200">
                <a:solidFill>
                  <a:srgbClr val="3F4C7C"/>
                </a:solidFill>
              </a:rPr>
              <a:t> value means better.</a:t>
            </a:r>
            <a:endParaRPr sz="1200">
              <a:solidFill>
                <a:srgbClr val="3F4C7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2" name="Google Shape;162;p17"/>
          <p:cNvSpPr txBox="1"/>
          <p:nvPr/>
        </p:nvSpPr>
        <p:spPr>
          <a:xfrm>
            <a:off x="1188475" y="4542775"/>
            <a:ext cx="739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C7C"/>
                </a:solidFill>
              </a:rPr>
              <a:t>S. Sulun et al. Symbolic music generation conditioned on continuous-valued emotions. IEEE Access, 10:44617–44626, 2022.</a:t>
            </a:r>
            <a:endParaRPr sz="1000">
              <a:solidFill>
                <a:srgbClr val="3F4C7C"/>
              </a:solidFill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30425" y="375375"/>
            <a:ext cx="58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195425" y="4969200"/>
            <a:ext cx="3842100" cy="174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6601475" y="4969200"/>
            <a:ext cx="2079600" cy="174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D9D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363775" y="4836875"/>
            <a:ext cx="38421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F1F1F"/>
                </a:solidFill>
              </a:rPr>
              <a:t>Text-to-Music Generation with Emotional Nuance</a:t>
            </a:r>
            <a:endParaRPr b="1" sz="1100">
              <a:solidFill>
                <a:srgbClr val="1F1F1F"/>
              </a:solidFill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7619367" y="4829600"/>
            <a:ext cx="1167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F1F1F"/>
                </a:solidFill>
              </a:rPr>
              <a:t>Resona </a:t>
            </a:r>
            <a:endParaRPr b="1" sz="11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>
            <p:ph type="title"/>
          </p:nvPr>
        </p:nvSpPr>
        <p:spPr>
          <a:xfrm>
            <a:off x="5375956" y="273657"/>
            <a:ext cx="356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50">
                <a:solidFill>
                  <a:srgbClr val="3F4C7C"/>
                </a:solidFill>
                <a:highlight>
                  <a:srgbClr val="FFFFFF"/>
                </a:highlight>
              </a:rPr>
              <a:t>Potential Impact &amp; Outcomes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4812700" y="4375175"/>
            <a:ext cx="435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5475427" y="1239532"/>
            <a:ext cx="35670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F4C7C"/>
                </a:solidFill>
              </a:rPr>
              <a:t>Goals:</a:t>
            </a:r>
            <a:r>
              <a:rPr lang="en" sz="1300">
                <a:solidFill>
                  <a:srgbClr val="3F4C7C"/>
                </a:solidFill>
              </a:rPr>
              <a:t> Introduces fine-grained, psychologically grounded emotion modeling into music generation. </a:t>
            </a:r>
            <a:endParaRPr b="1" sz="1300">
              <a:solidFill>
                <a:srgbClr val="3F4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F4C7C"/>
                </a:solidFill>
              </a:rPr>
              <a:t>Contributions: </a:t>
            </a:r>
            <a:r>
              <a:rPr lang="en" sz="1300">
                <a:solidFill>
                  <a:srgbClr val="3F4C7C"/>
                </a:solidFill>
              </a:rPr>
              <a:t>A VA-conditioned text-to-music framework enabling finer emotional control.</a:t>
            </a:r>
            <a:endParaRPr sz="1300">
              <a:solidFill>
                <a:srgbClr val="3F4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F4C7C"/>
                </a:solidFill>
              </a:rPr>
              <a:t>Deliverables:</a:t>
            </a:r>
            <a:r>
              <a:rPr lang="en" sz="1300">
                <a:solidFill>
                  <a:srgbClr val="3F4C7C"/>
                </a:solidFill>
              </a:rPr>
              <a:t> Micropublication, open-source code, interactive demo.</a:t>
            </a:r>
            <a:endParaRPr sz="1300">
              <a:solidFill>
                <a:srgbClr val="3F4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rgbClr val="3F4C7C"/>
                </a:solidFill>
              </a:rPr>
              <a:t>Impact: </a:t>
            </a:r>
            <a:r>
              <a:rPr lang="en" sz="1300">
                <a:solidFill>
                  <a:srgbClr val="3F4C7C"/>
                </a:solidFill>
              </a:rPr>
              <a:t>Advances emotion-aware AI music generation for </a:t>
            </a:r>
            <a:r>
              <a:rPr lang="en" sz="1300">
                <a:solidFill>
                  <a:srgbClr val="3F4C7C"/>
                </a:solidFill>
              </a:rPr>
              <a:t>potential applications</a:t>
            </a:r>
            <a:r>
              <a:rPr lang="en" sz="1300">
                <a:solidFill>
                  <a:srgbClr val="3F4C7C"/>
                </a:solidFill>
              </a:rPr>
              <a:t> of personalized media, </a:t>
            </a:r>
            <a:r>
              <a:rPr lang="en" sz="1300">
                <a:solidFill>
                  <a:srgbClr val="3F4C7C"/>
                </a:solidFill>
              </a:rPr>
              <a:t>therapy, and creative tools.</a:t>
            </a:r>
            <a:endParaRPr sz="1600">
              <a:solidFill>
                <a:srgbClr val="3F4C7C"/>
              </a:solidFill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95425" y="4969200"/>
            <a:ext cx="3842100" cy="174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6601475" y="4969200"/>
            <a:ext cx="2079600" cy="174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D9D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363775" y="4836875"/>
            <a:ext cx="38421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F1F1F"/>
                </a:solidFill>
              </a:rPr>
              <a:t>Text-to-Music Generation with Emotional Nuance</a:t>
            </a:r>
            <a:endParaRPr b="1" sz="1100">
              <a:solidFill>
                <a:srgbClr val="1F1F1F"/>
              </a:solidFill>
            </a:endParaRPr>
          </a:p>
        </p:txBody>
      </p:sp>
      <p:pic>
        <p:nvPicPr>
          <p:cNvPr id="178" name="Google Shape;17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821" y="432830"/>
            <a:ext cx="4828199" cy="42328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79" name="Google Shape;179;p18"/>
          <p:cNvSpPr txBox="1"/>
          <p:nvPr/>
        </p:nvSpPr>
        <p:spPr>
          <a:xfrm>
            <a:off x="7619367" y="4829600"/>
            <a:ext cx="1167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F1F1F"/>
                </a:solidFill>
              </a:rPr>
              <a:t>Resona </a:t>
            </a:r>
            <a:endParaRPr b="1" sz="11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>
            <p:ph type="title"/>
          </p:nvPr>
        </p:nvSpPr>
        <p:spPr>
          <a:xfrm>
            <a:off x="311700" y="6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50">
                <a:solidFill>
                  <a:srgbClr val="3F4C7C"/>
                </a:solidFill>
                <a:highlight>
                  <a:srgbClr val="FFFFFF"/>
                </a:highlight>
              </a:rPr>
              <a:t>Work Plan &amp; Timeline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812700" y="4375175"/>
            <a:ext cx="435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195425" y="4969200"/>
            <a:ext cx="3842100" cy="174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6601475" y="4969200"/>
            <a:ext cx="2079600" cy="174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D9D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363775" y="4836875"/>
            <a:ext cx="38421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F1F1F"/>
                </a:solidFill>
              </a:rPr>
              <a:t>Text-to-Music Generation with Emotional Nuance</a:t>
            </a:r>
            <a:endParaRPr b="1" sz="1100">
              <a:solidFill>
                <a:srgbClr val="1F1F1F"/>
              </a:solidFill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7619367" y="4829600"/>
            <a:ext cx="1167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F1F1F"/>
                </a:solidFill>
              </a:rPr>
              <a:t>Resona </a:t>
            </a:r>
            <a:endParaRPr b="1" sz="1100">
              <a:solidFill>
                <a:srgbClr val="1F1F1F"/>
              </a:solidFill>
            </a:endParaRPr>
          </a:p>
        </p:txBody>
      </p:sp>
      <p:pic>
        <p:nvPicPr>
          <p:cNvPr id="190" name="Google Shape;1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400" y="534075"/>
            <a:ext cx="7170724" cy="422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